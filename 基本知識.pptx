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08" r:id="rId2"/>
    <p:sldId id="290" r:id="rId3"/>
    <p:sldId id="273" r:id="rId4"/>
    <p:sldId id="28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63" r:id="rId14"/>
    <p:sldId id="414" r:id="rId15"/>
    <p:sldId id="391" r:id="rId16"/>
    <p:sldId id="416" r:id="rId17"/>
    <p:sldId id="265" r:id="rId18"/>
    <p:sldId id="262" r:id="rId19"/>
    <p:sldId id="264" r:id="rId20"/>
    <p:sldId id="260" r:id="rId21"/>
    <p:sldId id="261" r:id="rId22"/>
    <p:sldId id="289" r:id="rId23"/>
    <p:sldId id="267" r:id="rId24"/>
    <p:sldId id="268" r:id="rId25"/>
    <p:sldId id="282" r:id="rId26"/>
    <p:sldId id="283" r:id="rId27"/>
    <p:sldId id="418" r:id="rId28"/>
    <p:sldId id="420" r:id="rId29"/>
    <p:sldId id="419" r:id="rId30"/>
    <p:sldId id="421" r:id="rId31"/>
    <p:sldId id="417" r:id="rId32"/>
  </p:sldIdLst>
  <p:sldSz cx="9144000" cy="6858000" type="screen4x3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22C1A-A880-4B8A-A9DC-30C959B66864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1DD0E-3C58-4BB1-862D-2943E8E850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81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3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23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33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355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61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8654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72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67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130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715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613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hyperlink" Target="../contents.ppsx#-1,1,PowerPoint &#31777;&#22577;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3989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57332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A3859-220C-40A3-B82C-99AF86E31A9D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57332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57332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18C93-88F8-4042-9CCC-998724D06224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群組 6"/>
          <p:cNvGrpSpPr/>
          <p:nvPr userDrawn="1"/>
        </p:nvGrpSpPr>
        <p:grpSpPr>
          <a:xfrm>
            <a:off x="6200133" y="5928431"/>
            <a:ext cx="2686102" cy="704790"/>
            <a:chOff x="6200133" y="5928431"/>
            <a:chExt cx="2686102" cy="704790"/>
          </a:xfrm>
        </p:grpSpPr>
        <p:pic>
          <p:nvPicPr>
            <p:cNvPr id="8" name="Picture 2" descr="D:\I-i\button\au\11.jpg">
              <a:hlinkClick r:id="" action="ppaction://hlinkshowjump?jump=nextslide"/>
            </p:cNvPr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9358" y="5949280"/>
              <a:ext cx="646877" cy="642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3" descr="D:\I-i\button\au\22.jpg">
              <a:hlinkClick r:id="" action="ppaction://hlinkshowjump?jump=previousslide"/>
            </p:cNvPr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0133" y="5949280"/>
              <a:ext cx="683941" cy="683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 descr="D:\I-i\button\au\33.jpg">
              <a:hlinkClick r:id="" action="ppaction://hlinkshowjump?jump=firstslide"/>
            </p:cNvPr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8015" y="5928431"/>
              <a:ext cx="683941" cy="683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D:\I-i\button\au\44.jpg">
              <a:hlinkClick r:id="rId16" action="ppaction://hlinkpres?slideindex=1&amp;slidetitle=PowerPoint 簡報"/>
            </p:cNvPr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4074" y="5949280"/>
              <a:ext cx="683941" cy="683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8085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2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.ucsc.edu/" TargetMode="External"/><Relationship Id="rId2" Type="http://schemas.openxmlformats.org/officeDocument/2006/relationships/hyperlink" Target="https://www.rcsb.org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bb.ntou.edu.tw/" TargetMode="External"/><Relationship Id="rId4" Type="http://schemas.openxmlformats.org/officeDocument/2006/relationships/hyperlink" Target="https://www.cgl.ucsf.edu/chimera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28600" y="1122363"/>
            <a:ext cx="8915400" cy="1620837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基本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知識</a:t>
            </a:r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1270590" y="4053840"/>
            <a:ext cx="6858000" cy="2171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標楷體" panose="03000509000000000000" pitchFamily="65" charset="-12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標楷體" panose="03000509000000000000" pitchFamily="65" charset="-12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標楷體" panose="03000509000000000000" pitchFamily="65" charset="-12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標楷體" panose="03000509000000000000" pitchFamily="65" charset="-12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32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臺灣海洋大學 </a:t>
            </a:r>
            <a:endParaRPr lang="en-US" altLang="zh-TW" sz="3200" b="1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TW" altLang="en-US" sz="32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生命科學暨生物科技學系</a:t>
            </a:r>
            <a:endParaRPr lang="en-US" altLang="zh-TW" sz="3200" b="1" dirty="0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TW" altLang="en-US" sz="3200" b="1" dirty="0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鄒文雄</a:t>
            </a:r>
          </a:p>
        </p:txBody>
      </p:sp>
    </p:spTree>
    <p:extLst>
      <p:ext uri="{BB962C8B-B14F-4D97-AF65-F5344CB8AC3E}">
        <p14:creationId xmlns:p14="http://schemas.microsoft.com/office/powerpoint/2010/main" val="331010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生物學 第十版（二冊＋詞彙暨索引）">
            <a:extLst>
              <a:ext uri="{FF2B5EF4-FFF2-40B4-BE49-F238E27FC236}">
                <a16:creationId xmlns:a16="http://schemas.microsoft.com/office/drawing/2014/main" id="{96A7C63B-19CC-45FC-8828-55A260E95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6" y="83737"/>
            <a:ext cx="4701451" cy="669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37CF1B9-0A02-42E4-9943-16FACA485858}"/>
              </a:ext>
            </a:extLst>
          </p:cNvPr>
          <p:cNvSpPr txBox="1"/>
          <p:nvPr/>
        </p:nvSpPr>
        <p:spPr>
          <a:xfrm>
            <a:off x="2627784" y="5517232"/>
            <a:ext cx="72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7840713-A722-4439-88F2-BEEACC968A98}"/>
              </a:ext>
            </a:extLst>
          </p:cNvPr>
          <p:cNvSpPr txBox="1"/>
          <p:nvPr/>
        </p:nvSpPr>
        <p:spPr>
          <a:xfrm>
            <a:off x="6372200" y="2420888"/>
            <a:ext cx="26084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生物學 第十版</a:t>
            </a:r>
            <a:endParaRPr lang="en-US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ISBN13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9786681295010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出版社：偉明</a:t>
            </a:r>
          </a:p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作者：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Jane B. Reece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譯者：鍾楊聰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-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966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61" b="50000"/>
          <a:stretch/>
        </p:blipFill>
        <p:spPr>
          <a:xfrm>
            <a:off x="89868" y="764704"/>
            <a:ext cx="8964263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487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13"/>
          <a:stretch/>
        </p:blipFill>
        <p:spPr>
          <a:xfrm>
            <a:off x="143042" y="870856"/>
            <a:ext cx="8783693" cy="450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 descr="f05-1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939"/>
          <a:stretch/>
        </p:blipFill>
        <p:spPr>
          <a:xfrm>
            <a:off x="142001" y="485056"/>
            <a:ext cx="8783687" cy="533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22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403"/>
            <a:ext cx="5519644" cy="6848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893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16632"/>
            <a:ext cx="3735445" cy="6597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798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5sol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32656"/>
            <a:ext cx="7375826" cy="5303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376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4664"/>
            <a:ext cx="8017270" cy="5194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22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0"/>
            <a:ext cx="5510766" cy="6093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03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8-1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" t="-42" r="234" b="93796"/>
          <a:stretch/>
        </p:blipFill>
        <p:spPr>
          <a:xfrm>
            <a:off x="-1" y="28356"/>
            <a:ext cx="9047549" cy="73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 descr="f05-18-1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" t="7039" r="50356" b="32131"/>
          <a:stretch/>
        </p:blipFill>
        <p:spPr>
          <a:xfrm>
            <a:off x="207977" y="773575"/>
            <a:ext cx="3468644" cy="5789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 descr="f05-18-1"/>
          <p:cNvPicPr>
            <a:picLocks noGrp="1" noChangeAspect="1"/>
          </p:cNvPicPr>
          <p:nvPr isPhoto="1"/>
        </p:nvPicPr>
        <p:blipFill rotWithShape="1"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41" t="80668" r="4595"/>
          <a:stretch/>
        </p:blipFill>
        <p:spPr>
          <a:xfrm>
            <a:off x="3752389" y="3997100"/>
            <a:ext cx="3445682" cy="1880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f05-18-1"/>
          <p:cNvPicPr>
            <a:picLocks noGrp="1" noChangeAspect="1"/>
          </p:cNvPicPr>
          <p:nvPr isPhoto="1"/>
        </p:nvPicPr>
        <p:blipFill rotWithShape="1"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478" r="-2670" b="59364"/>
          <a:stretch/>
        </p:blipFill>
        <p:spPr>
          <a:xfrm>
            <a:off x="3663228" y="692696"/>
            <a:ext cx="3961742" cy="3304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151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f05-18-2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" r="2474" b="68000"/>
          <a:stretch/>
        </p:blipFill>
        <p:spPr>
          <a:xfrm>
            <a:off x="-19500" y="741864"/>
            <a:ext cx="7065011" cy="256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f05-18-2"/>
          <p:cNvPicPr>
            <a:picLocks noGrp="1" noChangeAspect="1"/>
          </p:cNvPicPr>
          <p:nvPr isPhoto="1"/>
        </p:nvPicPr>
        <p:blipFill rotWithShape="1"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2" r="50000"/>
          <a:stretch/>
        </p:blipFill>
        <p:spPr>
          <a:xfrm>
            <a:off x="57983" y="3429000"/>
            <a:ext cx="3916344" cy="223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圖片 5" descr="f05-18-2"/>
          <p:cNvPicPr>
            <a:picLocks noGrp="1" noChangeAspect="1"/>
          </p:cNvPicPr>
          <p:nvPr isPhoto="1"/>
        </p:nvPicPr>
        <p:blipFill rotWithShape="1"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0000" b="42765"/>
          <a:stretch/>
        </p:blipFill>
        <p:spPr>
          <a:xfrm>
            <a:off x="0" y="5733256"/>
            <a:ext cx="3851332" cy="648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圖片 6" descr="f05-18-1"/>
          <p:cNvPicPr>
            <a:picLocks noGrp="1" noChangeAspect="1"/>
          </p:cNvPicPr>
          <p:nvPr isPhoto="1"/>
        </p:nvPicPr>
        <p:blipFill rotWithShape="1"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" t="-42" r="234" b="93796"/>
          <a:stretch/>
        </p:blipFill>
        <p:spPr>
          <a:xfrm>
            <a:off x="-1" y="28356"/>
            <a:ext cx="9047549" cy="73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圖片 7" descr="f05-18-2"/>
          <p:cNvPicPr>
            <a:picLocks noGrp="1" noChangeAspect="1"/>
          </p:cNvPicPr>
          <p:nvPr isPhoto="1"/>
        </p:nvPicPr>
        <p:blipFill rotWithShape="1"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7497" r="1063"/>
          <a:stretch/>
        </p:blipFill>
        <p:spPr>
          <a:xfrm>
            <a:off x="6084168" y="2818425"/>
            <a:ext cx="2961163" cy="2990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8269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05-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969" y="0"/>
            <a:ext cx="9144000" cy="5765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9998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2-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88640"/>
            <a:ext cx="5020427" cy="5661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498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275951" y="332656"/>
            <a:ext cx="8984126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TP53 ( </a:t>
            </a: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抗癌基因</a:t>
            </a:r>
            <a:r>
              <a:rPr lang="en-US" altLang="zh-TW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p53 )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一種蛋白質，專門結合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，控制基因轉錄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針對細胞壓力進行反應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cell cycle arrest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細胞週期停滯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apoptosis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凋亡，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senescence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衰老，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 repair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DNA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修復，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metabolism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代謝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</a:p>
          <a:p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~2/3 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的癌症發現有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TP53</a:t>
            </a: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基因突變</a:t>
            </a:r>
            <a:endParaRPr lang="en-US" altLang="zh-TW" sz="32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7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cusabio.com/statics/images/pathway/p53-signaling-pathway-pic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8268" y="0"/>
            <a:ext cx="10792175" cy="648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6250259" y="6642556"/>
            <a:ext cx="28937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/>
              <a:t>https://www.cusabio.com/pathway/p53-signaling-pathway.html</a:t>
            </a:r>
            <a:endParaRPr lang="zh-TW" altLang="en-US" sz="8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533400" y="67733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TP53 </a:t>
            </a:r>
            <a:r>
              <a:rPr lang="zh-TW" altLang="en-US" b="1" dirty="0">
                <a:solidFill>
                  <a:srgbClr val="FF0000"/>
                </a:solidFill>
              </a:rPr>
              <a:t>訊號傳遞途徑 </a:t>
            </a:r>
          </a:p>
        </p:txBody>
      </p:sp>
    </p:spTree>
    <p:extLst>
      <p:ext uri="{BB962C8B-B14F-4D97-AF65-F5344CB8AC3E}">
        <p14:creationId xmlns:p14="http://schemas.microsoft.com/office/powerpoint/2010/main" val="285781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352722" cy="3670581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001618" y="6251713"/>
            <a:ext cx="5344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Cold Spring </a:t>
            </a:r>
            <a:r>
              <a:rPr lang="en-US" altLang="zh-TW" dirty="0" err="1"/>
              <a:t>Harb</a:t>
            </a:r>
            <a:r>
              <a:rPr lang="en-US" altLang="zh-TW" dirty="0"/>
              <a:t> </a:t>
            </a:r>
            <a:r>
              <a:rPr lang="en-US" altLang="zh-TW" dirty="0" err="1"/>
              <a:t>Perspect</a:t>
            </a:r>
            <a:r>
              <a:rPr lang="en-US" altLang="zh-TW" dirty="0"/>
              <a:t> Biol. 2010 Jun;2(6):a000919.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7216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6-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88640"/>
            <a:ext cx="5667027" cy="55425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5331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6-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16632"/>
            <a:ext cx="3416385" cy="64533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817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6-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04664"/>
            <a:ext cx="7583571" cy="52584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14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0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4" b="15630"/>
          <a:stretch/>
        </p:blipFill>
        <p:spPr>
          <a:xfrm>
            <a:off x="323528" y="188640"/>
            <a:ext cx="3516836" cy="648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 descr="f17-03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46" r="2874"/>
          <a:stretch/>
        </p:blipFill>
        <p:spPr>
          <a:xfrm>
            <a:off x="3858295" y="188640"/>
            <a:ext cx="4630211" cy="1584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849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0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22"/>
          <a:stretch/>
        </p:blipFill>
        <p:spPr>
          <a:xfrm>
            <a:off x="323527" y="260648"/>
            <a:ext cx="4214565" cy="640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 descr="f17-04"/>
          <p:cNvPicPr>
            <a:picLocks noGrp="1" noChangeAspect="1"/>
          </p:cNvPicPr>
          <p:nvPr isPhoto="1"/>
        </p:nvPicPr>
        <p:blipFill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49" r="3490"/>
          <a:stretch/>
        </p:blipFill>
        <p:spPr>
          <a:xfrm>
            <a:off x="4644008" y="404664"/>
            <a:ext cx="4159132" cy="2448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0374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-99392"/>
            <a:ext cx="6050630" cy="9778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6762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38610"/>
            <a:ext cx="8503203" cy="33835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6397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52563"/>
            <a:ext cx="8573188" cy="37046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3272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7" y="-35450"/>
            <a:ext cx="8737386" cy="63103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1334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7-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-164438"/>
            <a:ext cx="7476347" cy="7186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250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34CB8F-4906-C89D-36DC-62880345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8520" y="3717032"/>
            <a:ext cx="9144000" cy="173768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C3ED4DE-95BE-926D-05CB-3541C2440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624"/>
            <a:ext cx="9144000" cy="299471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738A54A-3F55-C39F-95E9-2689A9B89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5610864"/>
            <a:ext cx="9144000" cy="1247136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5068126D-F30F-CE8E-79D9-8CDF1D3B2AB5}"/>
              </a:ext>
            </a:extLst>
          </p:cNvPr>
          <p:cNvSpPr/>
          <p:nvPr/>
        </p:nvSpPr>
        <p:spPr>
          <a:xfrm>
            <a:off x="0" y="6093296"/>
            <a:ext cx="251520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12785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C33D435-C4F0-6D46-F2EF-D3B7C98C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127"/>
            <a:ext cx="9144000" cy="244774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4F2B2C2-A88C-3181-440F-581DC4823C40}"/>
              </a:ext>
            </a:extLst>
          </p:cNvPr>
          <p:cNvSpPr txBox="1"/>
          <p:nvPr/>
        </p:nvSpPr>
        <p:spPr>
          <a:xfrm>
            <a:off x="2267744" y="908720"/>
            <a:ext cx="272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chr17:7,673,797-7,673,808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86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4B373BC-D105-396F-A33F-600C51296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862"/>
            <a:ext cx="9144000" cy="383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1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18-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23502"/>
            <a:ext cx="6049705" cy="6165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2121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-21412" y="1484784"/>
            <a:ext cx="939141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/>
              <a:t>蛋白質結構</a:t>
            </a:r>
            <a:r>
              <a:rPr lang="en-US" altLang="zh-TW" sz="3200" b="1" dirty="0"/>
              <a:t>:</a:t>
            </a:r>
            <a:r>
              <a:rPr lang="zh-TW" altLang="en-US" sz="3200" b="1" dirty="0"/>
              <a:t> </a:t>
            </a:r>
            <a:r>
              <a:rPr lang="en-US" altLang="zh-TW" sz="3200" b="1" dirty="0">
                <a:hlinkClick r:id="rId2"/>
              </a:rPr>
              <a:t>https://www.rcsb.org/</a:t>
            </a:r>
            <a:endParaRPr lang="en-US" altLang="zh-TW" sz="3200" b="1" dirty="0"/>
          </a:p>
          <a:p>
            <a:endParaRPr lang="en-US" altLang="zh-TW" sz="3200" b="1" dirty="0"/>
          </a:p>
          <a:p>
            <a:r>
              <a:rPr lang="en-US" altLang="zh-TW" sz="3200" b="1" dirty="0"/>
              <a:t>Genome</a:t>
            </a:r>
            <a:r>
              <a:rPr lang="zh-TW" altLang="en-US" sz="3200" b="1" dirty="0"/>
              <a:t>瀏覽器 </a:t>
            </a:r>
            <a:r>
              <a:rPr lang="en-US" altLang="zh-TW" sz="3200" b="1" dirty="0">
                <a:hlinkClick r:id="rId3"/>
              </a:rPr>
              <a:t>https://genome.ucsc.edu/</a:t>
            </a:r>
            <a:endParaRPr lang="en-US" altLang="zh-TW" sz="3200" b="1" dirty="0"/>
          </a:p>
          <a:p>
            <a:endParaRPr lang="en-US" altLang="zh-TW" sz="3200" b="1" dirty="0"/>
          </a:p>
          <a:p>
            <a:r>
              <a:rPr lang="zh-TW" altLang="en-US" sz="3200" b="1" dirty="0"/>
              <a:t>蛋白質結構視算 </a:t>
            </a:r>
            <a:r>
              <a:rPr lang="en-US" altLang="zh-TW" sz="3200" b="1" dirty="0">
                <a:hlinkClick r:id="rId4"/>
              </a:rPr>
              <a:t>https://www.cgl.ucsf.edu/chimerax/</a:t>
            </a:r>
            <a:endParaRPr lang="en-US" altLang="zh-TW" sz="3200" b="1" dirty="0"/>
          </a:p>
          <a:p>
            <a:endParaRPr lang="en-US" altLang="zh-TW" sz="3200" b="1" dirty="0"/>
          </a:p>
          <a:p>
            <a:r>
              <a:rPr lang="zh-TW" altLang="en-US" sz="3200" b="1" dirty="0"/>
              <a:t>台灣海洋大學 生命科學暨生物科技學系</a:t>
            </a:r>
            <a:endParaRPr lang="en-US" altLang="zh-TW" sz="3200" b="1" dirty="0"/>
          </a:p>
          <a:p>
            <a:r>
              <a:rPr lang="en-US" altLang="zh-TW" sz="3200" b="1" dirty="0">
                <a:hlinkClick r:id="rId5"/>
              </a:rPr>
              <a:t>https://dbb.ntou.edu.tw/</a:t>
            </a:r>
            <a:endParaRPr lang="en-US" altLang="zh-TW" sz="3200" b="1" dirty="0"/>
          </a:p>
        </p:txBody>
      </p:sp>
    </p:spTree>
    <p:extLst>
      <p:ext uri="{BB962C8B-B14F-4D97-AF65-F5344CB8AC3E}">
        <p14:creationId xmlns:p14="http://schemas.microsoft.com/office/powerpoint/2010/main" val="79731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178</Words>
  <Application>Microsoft Office PowerPoint</Application>
  <PresentationFormat>如螢幕大小 (4:3)</PresentationFormat>
  <Paragraphs>31</Paragraphs>
  <Slides>31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6" baseType="lpstr">
      <vt:lpstr>標楷體</vt:lpstr>
      <vt:lpstr>Arial</vt:lpstr>
      <vt:lpstr>Calibri</vt:lpstr>
      <vt:lpstr>Times New Roman</vt:lpstr>
      <vt:lpstr>Office 佈景主題</vt:lpstr>
      <vt:lpstr>基本知識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Averse</dc:creator>
  <cp:lastModifiedBy>鄒文雄</cp:lastModifiedBy>
  <cp:revision>51</cp:revision>
  <dcterms:created xsi:type="dcterms:W3CDTF">2020-09-24T16:15:34Z</dcterms:created>
  <dcterms:modified xsi:type="dcterms:W3CDTF">2025-10-20T01:20:32Z</dcterms:modified>
</cp:coreProperties>
</file>